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3d484c0-0542-f947-02aa-b2c115f50f3c}">
          <p14:sldIdLst>
            <p14:sldId id="256"/>
            <p14:sldId id="257"/>
            <p14:sldId id="258"/>
          </p14:sldIdLst>
        </p14:section>
        <p14:section name="Google Search Ads" id="{d12b7aff-79b0-8f36-3e94-face7e3ee59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SEO" id="{ba8894a2-a3d1-ce05-d473-3c6560b835d9}">
          <p14:sldIdLst>
            <p14:sldId id="272"/>
            <p14:sldId id="273"/>
            <p14:sldId id="274"/>
            <p14:sldId id="275"/>
          </p14:sldIdLst>
        </p14:section>
        <p14:section name="GEO" id="{d09b4218-37a5-8436-999d-d39473b6fba0}">
          <p14:sldIdLst>
            <p14:sldId id="276"/>
            <p14:sldId id="277"/>
            <p14:sldId id="278"/>
          </p14:sldIdLst>
        </p14:section>
        <p14:section name="AEO" id="{40502bf8-2c0c-d8a5-8b76-7b97314d4265}">
          <p14:sldIdLst>
            <p14:sldId id="279"/>
            <p14:sldId id="280"/>
            <p14:sldId id="281"/>
            <p14:sldId id="282"/>
            <p14:sldId id="283"/>
          </p14:sldIdLst>
        </p14:section>
        <p14:section name="Wrap-up" id="{5ca134c6-62e7-9e96-af0a-158644edc9de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5A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DRR logo" descr="/home/user/alkimia/bdrrdeck/bdr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17320"/>
            <a:ext cx="4023360" cy="20848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6492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6492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5A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BDRR logo" descr="/home/user/alkimia/bdrrdeck/bdr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897880"/>
            <a:ext cx="1371600" cy="7132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BDRR logo" descr="/home/user/alkimia/bdrrdeck/bdr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6016752"/>
            <a:ext cx="1188720" cy="612648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Big Dog Ranch Rescue  |  bdrr.org  |  Media &amp; Keyword Strategy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5544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BIG DOG RANCH RESCUE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2918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Media &amp; Keyword Strategy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Google Search Ads  |  SEO  |  GEO  |  AEO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bdrr.org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bdrr.org: one site, four search jobs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Big Dog Ranch Rescue (Loxahatchee, Palm Beach County, FL) is a large cage-free, no-kill dog rescue. People come to bdrr.org to adopt, foster, volunteer, donate and visit.</a:t>
            </a:r>
            <a:endParaRPr lang="en-US" sz="1800" dirty="0"/>
          </a:p>
        </p:txBody>
      </p:sp>
      <p:sp>
        <p:nvSpPr>
          <p:cNvPr id="4" name="Channel card 1"/>
          <p:cNvSpPr/>
          <p:nvPr/>
        </p:nvSpPr>
        <p:spPr>
          <a:xfrm>
            <a:off x="548640" y="2468880"/>
            <a:ext cx="2642616" cy="3383280"/>
          </a:xfrm>
          <a:prstGeom prst="roundRect">
            <a:avLst>
              <a:gd name="adj" fmla="val 3460"/>
            </a:avLst>
          </a:prstGeom>
          <a:solidFill>
            <a:schemeClr val="bg2"/>
          </a:solidFill>
          <a:ln/>
        </p:spPr>
      </p:sp>
      <p:sp>
        <p:nvSpPr>
          <p:cNvPr id="5" name="Icon circle 1"/>
          <p:cNvSpPr/>
          <p:nvPr/>
        </p:nvSpPr>
        <p:spPr>
          <a:xfrm>
            <a:off x="777240" y="2697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Google Search Ad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52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Google Search Ads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23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Capture people actively searching to adopt, foster, volunteer or give. Fast, measurable, budget-controlled.</a:t>
            </a:r>
            <a:endParaRPr lang="en-US" sz="1400" dirty="0"/>
          </a:p>
        </p:txBody>
      </p:sp>
      <p:sp>
        <p:nvSpPr>
          <p:cNvPr id="9" name="Channel card 2"/>
          <p:cNvSpPr/>
          <p:nvPr/>
        </p:nvSpPr>
        <p:spPr>
          <a:xfrm>
            <a:off x="3364992" y="2468880"/>
            <a:ext cx="2642616" cy="3383280"/>
          </a:xfrm>
          <a:prstGeom prst="roundRect">
            <a:avLst>
              <a:gd name="adj" fmla="val 3460"/>
            </a:avLst>
          </a:prstGeom>
          <a:solidFill>
            <a:schemeClr val="bg2"/>
          </a:solidFill>
          <a:ln/>
        </p:spPr>
      </p:sp>
      <p:sp>
        <p:nvSpPr>
          <p:cNvPr id="10" name="Icon circle 2"/>
          <p:cNvSpPr/>
          <p:nvPr/>
        </p:nvSpPr>
        <p:spPr>
          <a:xfrm>
            <a:off x="3593592" y="2697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SEO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8529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4023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owned, compounding visibility for the same intents across the site and Google Maps.</a:t>
            </a:r>
            <a:endParaRPr lang="en-US" sz="1400" dirty="0"/>
          </a:p>
        </p:txBody>
      </p:sp>
      <p:sp>
        <p:nvSpPr>
          <p:cNvPr id="14" name="Channel card 3"/>
          <p:cNvSpPr/>
          <p:nvPr/>
        </p:nvSpPr>
        <p:spPr>
          <a:xfrm>
            <a:off x="6181344" y="2468880"/>
            <a:ext cx="2642616" cy="3383280"/>
          </a:xfrm>
          <a:prstGeom prst="roundRect">
            <a:avLst>
              <a:gd name="adj" fmla="val 3460"/>
            </a:avLst>
          </a:prstGeom>
          <a:solidFill>
            <a:schemeClr val="bg2"/>
          </a:solidFill>
          <a:ln/>
        </p:spPr>
      </p:sp>
      <p:sp>
        <p:nvSpPr>
          <p:cNvPr id="15" name="Icon circle 3"/>
          <p:cNvSpPr/>
          <p:nvPr/>
        </p:nvSpPr>
        <p:spPr>
          <a:xfrm>
            <a:off x="6409944" y="2697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GEO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8529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GEO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4023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Big Dog Ranch Rescue named and cited when ChatGPT, Gemini, Perplexity and AI Overviews recommend rescues.</a:t>
            </a:r>
            <a:endParaRPr lang="en-US" sz="1400" dirty="0"/>
          </a:p>
        </p:txBody>
      </p:sp>
      <p:sp>
        <p:nvSpPr>
          <p:cNvPr id="19" name="Channel card 4"/>
          <p:cNvSpPr/>
          <p:nvPr/>
        </p:nvSpPr>
        <p:spPr>
          <a:xfrm>
            <a:off x="8997696" y="2468880"/>
            <a:ext cx="2642616" cy="3383280"/>
          </a:xfrm>
          <a:prstGeom prst="roundRect">
            <a:avLst>
              <a:gd name="adj" fmla="val 3460"/>
            </a:avLst>
          </a:prstGeom>
          <a:solidFill>
            <a:schemeClr val="bg2"/>
          </a:solidFill>
          <a:ln/>
        </p:spPr>
      </p:sp>
      <p:sp>
        <p:nvSpPr>
          <p:cNvPr id="20" name="Icon circle 4"/>
          <p:cNvSpPr/>
          <p:nvPr/>
        </p:nvSpPr>
        <p:spPr>
          <a:xfrm>
            <a:off x="9226296" y="26974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AEO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8529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AEO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4023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search engines and assistants short, structured answers to the questions adopters and donors 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Full-funnel search plan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828800"/>
            <a:ext cx="2642616" cy="3017520"/>
          </a:xfrm>
          <a:prstGeom prst="roundRect">
            <a:avLst>
              <a:gd name="adj" fmla="val 346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Be found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SEO + GEO + AEO make bdrr.org the answer people and AI assistants cite.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3364992" y="1828800"/>
            <a:ext cx="2642616" cy="3017520"/>
          </a:xfrm>
          <a:prstGeom prst="roundRect">
            <a:avLst>
              <a:gd name="adj" fmla="val 346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Capture intent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337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Google Search Ads show up at the moment of a high-intent search.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181344" y="1828800"/>
            <a:ext cx="2642616" cy="3017520"/>
          </a:xfrm>
          <a:prstGeom prst="roundRect">
            <a:avLst>
              <a:gd name="adj" fmla="val 346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Convert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337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Dedicated landing pages: Adopt, Foster, Volunteer, Donate.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8997696" y="1828800"/>
            <a:ext cx="2642616" cy="3017520"/>
          </a:xfrm>
          <a:prstGeom prst="roundRect">
            <a:avLst>
              <a:gd name="adj" fmla="val 3460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4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Learn and expand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337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Search terms, conversions and AI mentions feed the next quarter.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Note: keyword sets are intent-based recommendations. Search volumes and CPCs must be validated in Google Keyword Planner or Semrush before launch; no volume data is included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Google Search: paid keywords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Keyword groups for adoption, foster, volunteer, donate and visit intent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Campaign structure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377440"/>
                <a:gridCol w="3776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groups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brand terms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/ About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Brand, Brand + 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applications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a dog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Adopt, Puppies and breeds, 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 sign-ups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Foster, Foster-to-adopt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applications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Volunteer, Groups and students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gifts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Donate, Sponsor, In-kind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 and visits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Awareness,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 /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Veterans, Seniors, Beagles, Visit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Match types, bidding and Ad Grants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548640" y="164592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itle 1"/>
          <p:cNvSpPr txBox="1"/>
          <p:nvPr/>
        </p:nvSpPr>
        <p:spPr>
          <a:xfrm>
            <a:off x="1417320" y="1828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Match types</a:t>
            </a:r>
            <a:endParaRPr lang="en-US" sz="1800" dirty="0"/>
          </a:p>
        </p:txBody>
      </p:sp>
      <p:sp>
        <p:nvSpPr>
          <p:cNvPr id="8" name="Card body 1"/>
          <p:cNvSpPr txBox="1"/>
          <p:nvPr/>
        </p:nvSpPr>
        <p:spPr>
          <a:xfrm>
            <a:off x="777240" y="246888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phrase and exact for the core terms. Use broad match only with smart bidding, once conversion data exists and negatives are in place.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6231636" y="164592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6460236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02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 title 2"/>
          <p:cNvSpPr txBox="1"/>
          <p:nvPr/>
        </p:nvSpPr>
        <p:spPr>
          <a:xfrm>
            <a:off x="7100316" y="1828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Bidding</a:t>
            </a:r>
            <a:endParaRPr lang="en-US" sz="1800" dirty="0"/>
          </a:p>
        </p:txBody>
      </p:sp>
      <p:sp>
        <p:nvSpPr>
          <p:cNvPr id="13" name="Card body 2"/>
          <p:cNvSpPr txBox="1"/>
          <p:nvPr/>
        </p:nvSpPr>
        <p:spPr>
          <a:xfrm>
            <a:off x="6460236" y="246888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Begin with Maximize Clicks to learn, then move to Maximize Conversions or target CPA per campaign (adoption app, foster form, donation).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548640" y="384048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 title 3"/>
          <p:cNvSpPr txBox="1"/>
          <p:nvPr/>
        </p:nvSpPr>
        <p:spPr>
          <a:xfrm>
            <a:off x="1417320" y="402336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Google Ad Grants</a:t>
            </a:r>
            <a:endParaRPr lang="en-US" sz="1800" dirty="0"/>
          </a:p>
        </p:txBody>
      </p:sp>
      <p:sp>
        <p:nvSpPr>
          <p:cNvPr id="18" name="Card body 3"/>
          <p:cNvSpPr txBox="1"/>
          <p:nvPr/>
        </p:nvSpPr>
        <p:spPr>
          <a:xfrm>
            <a:off x="777240" y="46634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BDRR is enrolled: up to $10K/month of Search ads. Policy needs at least 5% CTR and no single-word keywords except brand. Verify current rules.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6231636" y="384048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6460236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023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Card title 4"/>
          <p:cNvSpPr txBox="1"/>
          <p:nvPr/>
        </p:nvSpPr>
        <p:spPr>
          <a:xfrm>
            <a:off x="7100316" y="402336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Targeting</a:t>
            </a:r>
            <a:endParaRPr lang="en-US" sz="1800" dirty="0"/>
          </a:p>
        </p:txBody>
      </p:sp>
      <p:sp>
        <p:nvSpPr>
          <p:cNvPr id="23" name="Card body 4"/>
          <p:cNvSpPr txBox="1"/>
          <p:nvPr/>
        </p:nvSpPr>
        <p:spPr>
          <a:xfrm>
            <a:off x="6460236" y="46634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Palm Beach County first, then Broward, Martin, St. Lucie and Miami-Dade. Schedule heavier weight for adoption events and giving moments.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BRAND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Brand terms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loxahatchee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palm beach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and small ranch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bdrr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bdrr.org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bdrr dog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donate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volunteer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foster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reviews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events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visit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Navigational. People who already know us.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Home, or the matching section page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Exact and phrase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Defend brand terms against other advertisers.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Adopt a Dog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dog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dogs for adoption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rescue dogs for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rescue dog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kill dog rescue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 west palm beach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to adopt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adoption application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High. Ready to adopt.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Adopt a dog / available dogs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 and exact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Core conversion: adoption applications.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Puppies, Seniors and Breeds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puppies for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puppies for adoption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puppy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rescue puppies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puppy adoption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senior dog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senior dog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dogs for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 dog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labrador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german shepherd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pit bull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golden retriever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husky rescue florida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High. Specific preference.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Adopt, filtered by age or size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 and exact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Long-tail terms usually cost less per click.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Local and city modifiers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each pattern for every city:</a:t>
            </a:r>
            <a:endParaRPr lang="en-US" sz="1600" dirty="0"/>
          </a:p>
        </p:txBody>
      </p:sp>
      <p:sp>
        <p:nvSpPr>
          <p:cNvPr id="5" name="Pattern 1"/>
          <p:cNvSpPr/>
          <p:nvPr/>
        </p:nvSpPr>
        <p:spPr>
          <a:xfrm>
            <a:off x="548640" y="201168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dog adoption [city]</a:t>
            </a:r>
            <a:endParaRPr lang="en-US" sz="1400" dirty="0"/>
          </a:p>
        </p:txBody>
      </p:sp>
      <p:sp>
        <p:nvSpPr>
          <p:cNvPr id="7" name="Pattern 2"/>
          <p:cNvSpPr/>
          <p:nvPr/>
        </p:nvSpPr>
        <p:spPr>
          <a:xfrm>
            <a:off x="2926080" y="201168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adopt a dog [city]</a:t>
            </a:r>
            <a:endParaRPr lang="en-US" sz="1400" dirty="0"/>
          </a:p>
        </p:txBody>
      </p:sp>
      <p:sp>
        <p:nvSpPr>
          <p:cNvPr id="9" name="Pattern 3"/>
          <p:cNvSpPr/>
          <p:nvPr/>
        </p:nvSpPr>
        <p:spPr>
          <a:xfrm>
            <a:off x="548640" y="2578608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dog rescue [city]</a:t>
            </a:r>
            <a:endParaRPr lang="en-US" sz="1400" dirty="0"/>
          </a:p>
        </p:txBody>
      </p:sp>
      <p:sp>
        <p:nvSpPr>
          <p:cNvPr id="11" name="Pattern 4"/>
          <p:cNvSpPr/>
          <p:nvPr/>
        </p:nvSpPr>
        <p:spPr>
          <a:xfrm>
            <a:off x="2926080" y="2578608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5786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foster a dog [city]</a:t>
            </a:r>
            <a:endParaRPr lang="en-US" sz="1400" dirty="0"/>
          </a:p>
        </p:txBody>
      </p:sp>
      <p:sp>
        <p:nvSpPr>
          <p:cNvPr id="13" name="Pattern 5"/>
          <p:cNvSpPr/>
          <p:nvPr/>
        </p:nvSpPr>
        <p:spPr>
          <a:xfrm>
            <a:off x="548640" y="3145536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455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volunteer with dogs [city]</a:t>
            </a:r>
            <a:endParaRPr lang="en-US" sz="1400" dirty="0"/>
          </a:p>
        </p:txBody>
      </p:sp>
      <p:sp>
        <p:nvSpPr>
          <p:cNvPr id="15" name="Pattern 6"/>
          <p:cNvSpPr/>
          <p:nvPr/>
        </p:nvSpPr>
        <p:spPr>
          <a:xfrm>
            <a:off x="2926080" y="3145536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26080" y="31455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animal shelter [city]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Phrase and exact match. Scale to additional Florida counties once the first set performs.</a:t>
            </a:r>
            <a:endParaRPr lang="en-US" sz="1400" dirty="0"/>
          </a:p>
        </p:txBody>
      </p:sp>
      <p:sp>
        <p:nvSpPr>
          <p:cNvPr id="18" name="Cities card"/>
          <p:cNvSpPr/>
          <p:nvPr/>
        </p:nvSpPr>
        <p:spPr>
          <a:xfrm>
            <a:off x="5669280" y="1645920"/>
            <a:ext cx="5971032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Priority cities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33172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Loxahatchee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Wellington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West Palm Beach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Royal Palm Beach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Palm Beach Gardens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Jupiter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33172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Boynton Beach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Delray Beach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Boca Raton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Fort Lauderdale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Port St. Lucie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Miami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Foster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foster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become a dog foster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dog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fostering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to adopt dog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to foster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 foster program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a puppy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dogs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temporary dog foster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foster a dog for a rescue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Medium to high. Ready to help.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Foster a dog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 and exact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Fosters free kennel space for more rescues.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Volunteer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 volunteer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volunteer with dogs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volunteer at animal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 shelter volunteer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walking volunteer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 rescue volunteer opportunities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volunteer dog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community service hours animal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student volunteer animal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corporate volunteering animal shelter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Medium. Exploring ways to help.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Volunteer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Builds volunteers, groups and future donors.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Donate and Sponsor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donate to dog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donate to animal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dog rescue to donate 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 charity donations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sponsor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 donations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donate dog food to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kind donations animal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donate to no kill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monthly giving animal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donate in memory of pet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charity for dogs near me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Medium to high. Giving intent.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Donate / Ways to give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 and exact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Direct revenue. Test year-end and giving days.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Visit, Events and Camps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 ranch visit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 shelter tours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things to do in loxahatchee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events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adoption events near me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friendly events west palm beach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kids animal camp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 rescue field trip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pet adoption event west palm beach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visit animal sanctuary florida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Low to medium. Discovery.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Visit / Events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Confirm which visits and events are currently offered.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GROUP 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Programs and Special Rescues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service dogs for veterans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veteran service dog program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companion dog for seniors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senior companion dog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 a beagle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rescued beagles adoption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beagle rescue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hurricane rescue dogs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youth animal program palm beach 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dogs for veterans near me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INTENT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Mixed. Mission and campaign driven.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LANDING PAGE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Program or campaign page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MATCH TYPE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Phrase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WHY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Tie to news moments such as beagle arrivals.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GOOGLE SEARCH ADS  |  NEGATIVE KEYWORDS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Negative keywords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cheap puppies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puppies for sale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dogs for sale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buy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breeder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puppy mill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pet store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craigslist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lost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found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stray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jobs / careers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training classes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vet near 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food coupons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PURPOSE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Block shoppers, breeders and unrelated pet services.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APPLY AT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Account level, then refine per campaign.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REVIEW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Weekly search terms report in month one, then monthly.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WATCH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Do not block 'free' for donation or service-dog programs without checking.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SEO: owned search visibility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Pillar pages, local search and content that earn traffic without paying per click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Pillar pages and target keywords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a dog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 adoption palm beach county, adopt a dog near 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process, fees, FAQs, adoptable dog profiles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 a dog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 a dog palm beach county, dog foster near 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fostering works, supplies list, foster stories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 rescue volunteer near me, volunteer with dogs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age rules, group and student volunteering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 / Give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 to dog rescue florida, sponsor a dog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page, wish list, giving days, memorial gifts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dogs for veterans, companion dogs for seniors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page per program, with outcomes and stories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and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things to do in loxahatchee, dog adoption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calendar with Event schema, visitor guide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Priority fixes and builds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548640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itle 1"/>
          <p:cNvSpPr txBox="1"/>
          <p:nvPr/>
        </p:nvSpPr>
        <p:spPr>
          <a:xfrm>
            <a:off x="1417320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Make dog profiles indexable</a:t>
            </a:r>
            <a:endParaRPr lang="en-US" sz="1600" dirty="0"/>
          </a:p>
        </p:txBody>
      </p:sp>
      <p:sp>
        <p:nvSpPr>
          <p:cNvPr id="8" name="Card body 1"/>
          <p:cNvSpPr txBox="1"/>
          <p:nvPr/>
        </p:nvSpPr>
        <p:spPr>
          <a:xfrm>
            <a:off x="777240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adoptable dog gets a crawlable URL with unique text, photos with alt text and a clear Apply button. Redirect or noindex adopted dogs.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4337304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4565904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590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 title 2"/>
          <p:cNvSpPr txBox="1"/>
          <p:nvPr/>
        </p:nvSpPr>
        <p:spPr>
          <a:xfrm>
            <a:off x="5205984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Structured data</a:t>
            </a:r>
            <a:endParaRPr lang="en-US" sz="1600" dirty="0"/>
          </a:p>
        </p:txBody>
      </p:sp>
      <p:sp>
        <p:nvSpPr>
          <p:cNvPr id="13" name="Card body 2"/>
          <p:cNvSpPr txBox="1"/>
          <p:nvPr/>
        </p:nvSpPr>
        <p:spPr>
          <a:xfrm>
            <a:off x="4565904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Organization / NonProfit, LocalBusiness, Event, FAQPage and DonateAction schema. Validate in Rich Results Test.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8125968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8354568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45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 title 3"/>
          <p:cNvSpPr txBox="1"/>
          <p:nvPr/>
        </p:nvSpPr>
        <p:spPr>
          <a:xfrm>
            <a:off x="8994648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Local SEO</a:t>
            </a:r>
            <a:endParaRPr lang="en-US" sz="1600" dirty="0"/>
          </a:p>
        </p:txBody>
      </p:sp>
      <p:sp>
        <p:nvSpPr>
          <p:cNvPr id="18" name="Card body 3"/>
          <p:cNvSpPr txBox="1"/>
          <p:nvPr/>
        </p:nvSpPr>
        <p:spPr>
          <a:xfrm>
            <a:off x="8354568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 the Google Business Profile, keep name, address and phone identical on Petfinder, Adopt-a-Pet, GuideStar and local directories.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548640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Card title 4"/>
          <p:cNvSpPr txBox="1"/>
          <p:nvPr/>
        </p:nvSpPr>
        <p:spPr>
          <a:xfrm>
            <a:off x="1417320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Authority links</a:t>
            </a:r>
            <a:endParaRPr lang="en-US" sz="1600" dirty="0"/>
          </a:p>
        </p:txBody>
      </p:sp>
      <p:sp>
        <p:nvSpPr>
          <p:cNvPr id="23" name="Card body 4"/>
          <p:cNvSpPr txBox="1"/>
          <p:nvPr/>
        </p:nvSpPr>
        <p:spPr>
          <a:xfrm>
            <a:off x="777240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Earn links from local news, Palm Beach County agencies, schools, corporate partners and veterinary partners.</a:t>
            </a:r>
            <a:endParaRPr lang="en-US" sz="1400" dirty="0"/>
          </a:p>
        </p:txBody>
      </p:sp>
      <p:sp>
        <p:nvSpPr>
          <p:cNvPr id="24" name="Card 5"/>
          <p:cNvSpPr/>
          <p:nvPr/>
        </p:nvSpPr>
        <p:spPr>
          <a:xfrm>
            <a:off x="4337304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5" name="Badge 5"/>
          <p:cNvSpPr/>
          <p:nvPr/>
        </p:nvSpPr>
        <p:spPr>
          <a:xfrm>
            <a:off x="4565904" y="41148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59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Card title 5"/>
          <p:cNvSpPr txBox="1"/>
          <p:nvPr/>
        </p:nvSpPr>
        <p:spPr>
          <a:xfrm>
            <a:off x="5205984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Speed and mobile</a:t>
            </a:r>
            <a:endParaRPr lang="en-US" sz="1600" dirty="0"/>
          </a:p>
        </p:txBody>
      </p:sp>
      <p:sp>
        <p:nvSpPr>
          <p:cNvPr id="28" name="Card body 5"/>
          <p:cNvSpPr txBox="1"/>
          <p:nvPr/>
        </p:nvSpPr>
        <p:spPr>
          <a:xfrm>
            <a:off x="4565904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Compress heavy photography, fix Core Web Vitals and test the adoption form on mobile.</a:t>
            </a:r>
            <a:endParaRPr lang="en-US" sz="1400" dirty="0"/>
          </a:p>
        </p:txBody>
      </p:sp>
      <p:sp>
        <p:nvSpPr>
          <p:cNvPr id="29" name="Card 6"/>
          <p:cNvSpPr/>
          <p:nvPr/>
        </p:nvSpPr>
        <p:spPr>
          <a:xfrm>
            <a:off x="8125968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30" name="Badge 6"/>
          <p:cNvSpPr/>
          <p:nvPr/>
        </p:nvSpPr>
        <p:spPr>
          <a:xfrm>
            <a:off x="8354568" y="41148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45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Card title 6"/>
          <p:cNvSpPr txBox="1"/>
          <p:nvPr/>
        </p:nvSpPr>
        <p:spPr>
          <a:xfrm>
            <a:off x="8994648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Internal linking</a:t>
            </a:r>
            <a:endParaRPr lang="en-US" sz="1600" dirty="0"/>
          </a:p>
        </p:txBody>
      </p:sp>
      <p:sp>
        <p:nvSpPr>
          <p:cNvPr id="33" name="Card body 6"/>
          <p:cNvSpPr txBox="1"/>
          <p:nvPr/>
        </p:nvSpPr>
        <p:spPr>
          <a:xfrm>
            <a:off x="8354568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every blog post and dog profile back to Adopt, Foster, Volunteer and Donate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Content calendar starters</a:t>
            </a:r>
            <a:endParaRPr lang="en-US" sz="3200" dirty="0"/>
          </a:p>
        </p:txBody>
      </p:sp>
      <p:sp>
        <p:nvSpPr>
          <p:cNvPr id="4" name="Topic 1"/>
          <p:cNvSpPr/>
          <p:nvPr/>
        </p:nvSpPr>
        <p:spPr>
          <a:xfrm>
            <a:off x="548640" y="164592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Adopting a dog in Palm Beach County: step by step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adoption process</a:t>
            </a:r>
            <a:endParaRPr lang="en-US" sz="1600" dirty="0"/>
          </a:p>
        </p:txBody>
      </p:sp>
      <p:sp>
        <p:nvSpPr>
          <p:cNvPr id="7" name="Topic 2"/>
          <p:cNvSpPr/>
          <p:nvPr/>
        </p:nvSpPr>
        <p:spPr>
          <a:xfrm>
            <a:off x="6190488" y="164592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73368" y="182880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9168" y="171907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First 30 days with a rescue dog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new adopter guide</a:t>
            </a:r>
            <a:endParaRPr lang="en-US" sz="1600" dirty="0"/>
          </a:p>
        </p:txBody>
      </p:sp>
      <p:sp>
        <p:nvSpPr>
          <p:cNvPr id="10" name="Topic 3"/>
          <p:cNvSpPr/>
          <p:nvPr/>
        </p:nvSpPr>
        <p:spPr>
          <a:xfrm>
            <a:off x="548640" y="269748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7063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Foster vs adopt: which is right for you?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foster funnel</a:t>
            </a:r>
            <a:endParaRPr lang="en-US" sz="1600" dirty="0"/>
          </a:p>
        </p:txBody>
      </p:sp>
      <p:sp>
        <p:nvSpPr>
          <p:cNvPr id="13" name="Topic 4"/>
          <p:cNvSpPr/>
          <p:nvPr/>
        </p:nvSpPr>
        <p:spPr>
          <a:xfrm>
            <a:off x="6190488" y="269748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73368" y="288036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77063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does cage-free, no-kill rescue mean?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brand explainer</a:t>
            </a:r>
            <a:endParaRPr lang="en-US" sz="1600" dirty="0"/>
          </a:p>
        </p:txBody>
      </p:sp>
      <p:sp>
        <p:nvSpPr>
          <p:cNvPr id="16" name="Topic 5"/>
          <p:cNvSpPr/>
          <p:nvPr/>
        </p:nvSpPr>
        <p:spPr>
          <a:xfrm>
            <a:off x="548640" y="374904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2219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dog breeds for Florida heat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breed intent</a:t>
            </a:r>
            <a:endParaRPr lang="en-US" sz="1600" dirty="0"/>
          </a:p>
        </p:txBody>
      </p:sp>
      <p:sp>
        <p:nvSpPr>
          <p:cNvPr id="19" name="Topic 6"/>
          <p:cNvSpPr/>
          <p:nvPr/>
        </p:nvSpPr>
        <p:spPr>
          <a:xfrm>
            <a:off x="6190488" y="374904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73368" y="393192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382219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volunteer with dogs in South Florida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volunteer funnel</a:t>
            </a:r>
            <a:endParaRPr lang="en-US" sz="1600" dirty="0"/>
          </a:p>
        </p:txBody>
      </p:sp>
      <p:sp>
        <p:nvSpPr>
          <p:cNvPr id="22" name="Topic 7"/>
          <p:cNvSpPr/>
          <p:nvPr/>
        </p:nvSpPr>
        <p:spPr>
          <a:xfrm>
            <a:off x="548640" y="480060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8737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your donation goes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trust and giving</a:t>
            </a:r>
            <a:endParaRPr lang="en-US" sz="1600" dirty="0"/>
          </a:p>
        </p:txBody>
      </p:sp>
      <p:sp>
        <p:nvSpPr>
          <p:cNvPr id="25" name="Topic 8"/>
          <p:cNvSpPr/>
          <p:nvPr/>
        </p:nvSpPr>
        <p:spPr>
          <a:xfrm>
            <a:off x="6190488" y="4800600"/>
            <a:ext cx="5449824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3368" y="4983480"/>
            <a:ext cx="502920" cy="5029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8737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Meet the beagles: how rescued lab dogs adjust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news and story hook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GEO: Generative Engine Optimization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Being named and cited in ChatGPT, Gemini, Perplexity, Copilot and Google AI Overviews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Prompts we want Big Dog Ranch Rescue to win</a:t>
            </a:r>
            <a:endParaRPr lang="en-US" sz="3200" dirty="0"/>
          </a:p>
        </p:txBody>
      </p:sp>
      <p:sp>
        <p:nvSpPr>
          <p:cNvPr id="4" name="Prompt card 1"/>
          <p:cNvSpPr/>
          <p:nvPr/>
        </p:nvSpPr>
        <p:spPr>
          <a:xfrm>
            <a:off x="548640" y="1645920"/>
            <a:ext cx="3593592" cy="42062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Discovery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dog rescues in Palm Beach County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can I adopt a dog in South Florida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no-kill dog shelters in Florida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largest cage-free dog rescue in the US</a:t>
            </a:r>
            <a:endParaRPr lang="en-US" sz="1600" dirty="0"/>
          </a:p>
        </p:txBody>
      </p:sp>
      <p:sp>
        <p:nvSpPr>
          <p:cNvPr id="7" name="Prompt card 2"/>
          <p:cNvSpPr/>
          <p:nvPr/>
        </p:nvSpPr>
        <p:spPr>
          <a:xfrm>
            <a:off x="4297680" y="1645920"/>
            <a:ext cx="3593592" cy="42062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Action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I foster a dog in Palm Beach County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dog rescues near Wellington that need volunteers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to donate to help rescue dogs in Florida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I adopt a beagle in Florida</a:t>
            </a:r>
            <a:endParaRPr lang="en-US" sz="1600" dirty="0"/>
          </a:p>
        </p:txBody>
      </p:sp>
      <p:sp>
        <p:nvSpPr>
          <p:cNvPr id="10" name="Prompt card 3"/>
          <p:cNvSpPr/>
          <p:nvPr/>
        </p:nvSpPr>
        <p:spPr>
          <a:xfrm>
            <a:off x="8046720" y="1645920"/>
            <a:ext cx="3593592" cy="42062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Trust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Big Dog Ranch Rescue legit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Dog Ranch Rescue reviews and rating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does Big Dog Ranch Rescue use donations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programs does Big Dog Ranch Rescue run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earn AI citations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548640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itle 1"/>
          <p:cNvSpPr txBox="1"/>
          <p:nvPr/>
        </p:nvSpPr>
        <p:spPr>
          <a:xfrm>
            <a:off x="1417320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Consistent entity</a:t>
            </a:r>
            <a:endParaRPr lang="en-US" sz="1600" dirty="0"/>
          </a:p>
        </p:txBody>
      </p:sp>
      <p:sp>
        <p:nvSpPr>
          <p:cNvPr id="8" name="Card body 1"/>
          <p:cNvSpPr txBox="1"/>
          <p:nvPr/>
        </p:nvSpPr>
        <p:spPr>
          <a:xfrm>
            <a:off x="777240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clear description of BDRR everywhere: site, Google Business Profile, Wikipedia or Wikidata where eligible, GuideStar, Charity Navigator.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4337304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4565904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590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 title 2"/>
          <p:cNvSpPr txBox="1"/>
          <p:nvPr/>
        </p:nvSpPr>
        <p:spPr>
          <a:xfrm>
            <a:off x="5205984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Citable facts</a:t>
            </a:r>
            <a:endParaRPr lang="en-US" sz="1600" dirty="0"/>
          </a:p>
        </p:txBody>
      </p:sp>
      <p:sp>
        <p:nvSpPr>
          <p:cNvPr id="13" name="Card body 2"/>
          <p:cNvSpPr txBox="1"/>
          <p:nvPr/>
        </p:nvSpPr>
        <p:spPr>
          <a:xfrm>
            <a:off x="4565904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Dated, sourced impact numbers, programs and policies on crawlable pages. AI tools quote specific facts, not slogans.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8125968" y="164592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8354568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45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 title 3"/>
          <p:cNvSpPr txBox="1"/>
          <p:nvPr/>
        </p:nvSpPr>
        <p:spPr>
          <a:xfrm>
            <a:off x="8994648" y="182880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Third-party mentions</a:t>
            </a:r>
            <a:endParaRPr lang="en-US" sz="1600" dirty="0"/>
          </a:p>
        </p:txBody>
      </p:sp>
      <p:sp>
        <p:nvSpPr>
          <p:cNvPr id="18" name="Card body 3"/>
          <p:cNvSpPr txBox="1"/>
          <p:nvPr/>
        </p:nvSpPr>
        <p:spPr>
          <a:xfrm>
            <a:off x="8354568" y="246888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news, PBSO and county partnerships, corporate partners and reviews. Assistants weigh what others say about you.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548640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Card title 4"/>
          <p:cNvSpPr txBox="1"/>
          <p:nvPr/>
        </p:nvSpPr>
        <p:spPr>
          <a:xfrm>
            <a:off x="1417320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 to AI crawlers</a:t>
            </a:r>
            <a:endParaRPr lang="en-US" sz="1600" dirty="0"/>
          </a:p>
        </p:txBody>
      </p:sp>
      <p:sp>
        <p:nvSpPr>
          <p:cNvPr id="23" name="Card body 4"/>
          <p:cNvSpPr txBox="1"/>
          <p:nvPr/>
        </p:nvSpPr>
        <p:spPr>
          <a:xfrm>
            <a:off x="777240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robots.txt and firewall rules for GPTBot, ClaudeBot, PerplexityBot and Google-Extended. Keep key pages as server-rendered HTML.</a:t>
            </a:r>
            <a:endParaRPr lang="en-US" sz="1400" dirty="0"/>
          </a:p>
        </p:txBody>
      </p:sp>
      <p:sp>
        <p:nvSpPr>
          <p:cNvPr id="24" name="Card 5"/>
          <p:cNvSpPr/>
          <p:nvPr/>
        </p:nvSpPr>
        <p:spPr>
          <a:xfrm>
            <a:off x="4337304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5" name="Badge 5"/>
          <p:cNvSpPr/>
          <p:nvPr/>
        </p:nvSpPr>
        <p:spPr>
          <a:xfrm>
            <a:off x="4565904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59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Card title 5"/>
          <p:cNvSpPr txBox="1"/>
          <p:nvPr/>
        </p:nvSpPr>
        <p:spPr>
          <a:xfrm>
            <a:off x="5205984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Fresh and structured</a:t>
            </a:r>
            <a:endParaRPr lang="en-US" sz="1600" dirty="0"/>
          </a:p>
        </p:txBody>
      </p:sp>
      <p:sp>
        <p:nvSpPr>
          <p:cNvPr id="28" name="Card body 5"/>
          <p:cNvSpPr txBox="1"/>
          <p:nvPr/>
        </p:nvSpPr>
        <p:spPr>
          <a:xfrm>
            <a:off x="4565904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adoption, event and campaign pages often, with clear headings, tables and schema.</a:t>
            </a:r>
            <a:endParaRPr lang="en-US" sz="1400" dirty="0"/>
          </a:p>
        </p:txBody>
      </p:sp>
      <p:sp>
        <p:nvSpPr>
          <p:cNvPr id="29" name="Card 6"/>
          <p:cNvSpPr/>
          <p:nvPr/>
        </p:nvSpPr>
        <p:spPr>
          <a:xfrm>
            <a:off x="8125968" y="3886200"/>
            <a:ext cx="3514344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30" name="Badge 6"/>
          <p:cNvSpPr/>
          <p:nvPr/>
        </p:nvSpPr>
        <p:spPr>
          <a:xfrm>
            <a:off x="8354568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45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Card title 6"/>
          <p:cNvSpPr txBox="1"/>
          <p:nvPr/>
        </p:nvSpPr>
        <p:spPr>
          <a:xfrm>
            <a:off x="8994648" y="406908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Measure share of voice</a:t>
            </a:r>
            <a:endParaRPr lang="en-US" sz="1600" dirty="0"/>
          </a:p>
        </p:txBody>
      </p:sp>
      <p:sp>
        <p:nvSpPr>
          <p:cNvPr id="33" name="Card body 6"/>
          <p:cNvSpPr txBox="1"/>
          <p:nvPr/>
        </p:nvSpPr>
        <p:spPr>
          <a:xfrm>
            <a:off x="8354568" y="47091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prompt set monthly across ChatGPT, Gemini, Perplexity, Copilot and AI Overviews. Log mentions, citations and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AEO: Answer Engine Optimization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Short, structured answers that win featured snippets, People Also Ask and voice results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AEO  |  QUESTION TARGETS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Adoption questions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I adopt a dog from Big Dog Ranch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much does it cost to adopt a dog in Florida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do I need to adopt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I adopt a dog if I rent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long does dog adoption take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rescue dogs come vaccinated and spayed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I return an adopted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is a cage-free dog rescue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4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FORMAT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40 to 60 word direct answer under a question heading.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SCHEMA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FAQPage on the Adopt page.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TARGET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Featured snippets and People Also Ask.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CONFIRM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Fees, policies and requirements with the client 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AEO  |  QUESTION TARGETS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Foster and volunteer questions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does dog fostering 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foster dogs cost money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supplies do I need to foster a dog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I foster a dog for a short time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old do you have to be to volunteer at an animal shelter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I get community service hours with dogs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do dog rescue volunteers 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groups volunteer at a dog rescue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4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FORMAT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Step lists and short Q&amp;A blocks.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SCHEMA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FAQPage and HowTo.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TARGET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Voice search and AI summaries.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CONFIRM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Age limits, group rules and orientation steps.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AEO  |  QUESTION TARGETS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Donation and trust questions</a:t>
            </a:r>
            <a:endParaRPr lang="en-US" sz="3200" dirty="0"/>
          </a:p>
        </p:txBody>
      </p:sp>
      <p:sp>
        <p:nvSpPr>
          <p:cNvPr id="4" name="Keyword card"/>
          <p:cNvSpPr/>
          <p:nvPr/>
        </p:nvSpPr>
        <p:spPr>
          <a:xfrm>
            <a:off x="548640" y="1645920"/>
            <a:ext cx="73152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Keywords 1"/>
          <p:cNvSpPr txBox="1"/>
          <p:nvPr/>
        </p:nvSpPr>
        <p:spPr>
          <a:xfrm>
            <a:off x="77724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Big Dog Ranch Rescue a good charity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Big Dog Ranch Rescue a nonprofit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does my donation go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are donations to dog rescues tax deductible</a:t>
            </a:r>
            <a:endParaRPr lang="en-US" sz="1600" dirty="0"/>
          </a:p>
        </p:txBody>
      </p:sp>
      <p:sp>
        <p:nvSpPr>
          <p:cNvPr id="6" name="Keywords 2"/>
          <p:cNvSpPr txBox="1"/>
          <p:nvPr/>
        </p:nvSpPr>
        <p:spPr>
          <a:xfrm>
            <a:off x="43434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can I help a dog rescue without adopting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dog food can I donate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 founded Big Dog Ranch Rescue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is Big Dog Ranch Rescue located</a:t>
            </a:r>
            <a:endParaRPr lang="en-US" sz="1600" dirty="0"/>
          </a:p>
        </p:txBody>
      </p:sp>
      <p:sp>
        <p:nvSpPr>
          <p:cNvPr id="7" name="Intent card"/>
          <p:cNvSpPr/>
          <p:nvPr/>
        </p:nvSpPr>
        <p:spPr>
          <a:xfrm>
            <a:off x="8183880" y="1645920"/>
            <a:ext cx="3456432" cy="4206240"/>
          </a:xfrm>
          <a:prstGeom prst="roundRect">
            <a:avLst>
              <a:gd name="adj" fmla="val 3175"/>
            </a:avLst>
          </a:prstGeom>
          <a:solidFill>
            <a:schemeClr val="accent4"/>
          </a:solidFill>
          <a:ln/>
        </p:spPr>
      </p:sp>
      <p:sp>
        <p:nvSpPr>
          <p:cNvPr id="8" name="Intent details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FORMAT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Fact-first answers with sources and dates.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SCHEMA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Organization, DonateAction, FAQPage.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TARGET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AI answers and knowledge panel.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CONFIRM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Ratings, financial details and founder facts.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Answer-ready page template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548640" y="164592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itle 1"/>
          <p:cNvSpPr txBox="1"/>
          <p:nvPr/>
        </p:nvSpPr>
        <p:spPr>
          <a:xfrm>
            <a:off x="1417320" y="1828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 as heading</a:t>
            </a:r>
            <a:endParaRPr lang="en-US" sz="1800" dirty="0"/>
          </a:p>
        </p:txBody>
      </p:sp>
      <p:sp>
        <p:nvSpPr>
          <p:cNvPr id="8" name="Card body 1"/>
          <p:cNvSpPr txBox="1"/>
          <p:nvPr/>
        </p:nvSpPr>
        <p:spPr>
          <a:xfrm>
            <a:off x="777240" y="246888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exact wording people search, in an H2 or H3.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6231636" y="164592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6460236" y="1874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02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 title 2"/>
          <p:cNvSpPr txBox="1"/>
          <p:nvPr/>
        </p:nvSpPr>
        <p:spPr>
          <a:xfrm>
            <a:off x="7100316" y="1828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Answer first</a:t>
            </a:r>
            <a:endParaRPr lang="en-US" sz="1800" dirty="0"/>
          </a:p>
        </p:txBody>
      </p:sp>
      <p:sp>
        <p:nvSpPr>
          <p:cNvPr id="13" name="Card body 2"/>
          <p:cNvSpPr txBox="1"/>
          <p:nvPr/>
        </p:nvSpPr>
        <p:spPr>
          <a:xfrm>
            <a:off x="6460236" y="246888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a direct 40 to 60 word answer straight after the heading, then add detail.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548640" y="384048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 title 3"/>
          <p:cNvSpPr txBox="1"/>
          <p:nvPr/>
        </p:nvSpPr>
        <p:spPr>
          <a:xfrm>
            <a:off x="1417320" y="402336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Mark it up</a:t>
            </a:r>
            <a:endParaRPr lang="en-US" sz="1800" dirty="0"/>
          </a:p>
        </p:txBody>
      </p:sp>
      <p:sp>
        <p:nvSpPr>
          <p:cNvPr id="18" name="Card body 3"/>
          <p:cNvSpPr txBox="1"/>
          <p:nvPr/>
        </p:nvSpPr>
        <p:spPr>
          <a:xfrm>
            <a:off x="777240" y="46634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FAQPage, HowTo, Event and Organization schema where the content matches.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6231636" y="3840480"/>
            <a:ext cx="540867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6460236" y="40690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023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Card title 4"/>
          <p:cNvSpPr txBox="1"/>
          <p:nvPr/>
        </p:nvSpPr>
        <p:spPr>
          <a:xfrm>
            <a:off x="7100316" y="402336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Update and track</a:t>
            </a:r>
            <a:endParaRPr lang="en-US" sz="1800" dirty="0"/>
          </a:p>
        </p:txBody>
      </p:sp>
      <p:sp>
        <p:nvSpPr>
          <p:cNvPr id="23" name="Card body 4"/>
          <p:cNvSpPr txBox="1"/>
          <p:nvPr/>
        </p:nvSpPr>
        <p:spPr>
          <a:xfrm>
            <a:off x="6460236" y="46634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Search Console queries and People Also Ask monthly, then add the new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MEASUREMENT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will measure success</a:t>
            </a:r>
            <a:endParaRPr lang="en-US" sz="32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  <a:gridCol w="2679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applications, foster and volunteer forms, donations, CPA, search terms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first month, then bi-weekly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Non-brand organic clicks, rankings for pillar keywords, GBP actions, referring domains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Mentions, citations and accuracy across ChatGPT, Gemini, Perplexity, 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prompt audit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Featured snippets, People Also Ask wins, FAQ page traffic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 steps: 1) validate keywords and bids, 2) confirm current offers and policies, 3) set up conversion tracking, 4) launch Brand and Adopt campaigns, 5) start pillar pages and the GEO baseline audit.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RR Ranch">
  <a:themeElements>
    <a:clrScheme name="BDRR Ranch">
      <a:dk1>
        <a:srgbClr val="2B1A10"/>
      </a:dk1>
      <a:lt1>
        <a:srgbClr val="FFFFFF"/>
      </a:lt1>
      <a:dk2>
        <a:srgbClr val="5A2E14"/>
      </a:dk2>
      <a:lt2>
        <a:srgbClr val="F4EBE0"/>
      </a:lt2>
      <a:accent1>
        <a:srgbClr val="B5651D"/>
      </a:accent1>
      <a:accent2>
        <a:srgbClr val="3E7C59"/>
      </a:accent2>
      <a:accent3>
        <a:srgbClr val="2F5D8A"/>
      </a:accent3>
      <a:accent4>
        <a:srgbClr val="7B4B94"/>
      </a:accent4>
      <a:accent5>
        <a:srgbClr val="8A6D3B"/>
      </a:accent5>
      <a:accent6>
        <a:srgbClr val="6B6B6B"/>
      </a:accent6>
      <a:hlink>
        <a:srgbClr val="2F5D8A"/>
      </a:hlink>
      <a:folHlink>
        <a:srgbClr val="7B4B94"/>
      </a:folHlink>
    </a:clrScheme>
    <a:fontScheme name="BDRR Ran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Dog Ranch Rescue – Media &amp; Keyword Strategy</dc:title>
  <dc:subject>PptxGenJS Presentation</dc:subject>
  <dc:creator>Alkimia</dc:creator>
  <cp:lastModifiedBy>Alkimia</cp:lastModifiedBy>
  <cp:revision>1</cp:revision>
  <dcterms:created xsi:type="dcterms:W3CDTF">2026-10-13T18:20:24Z</dcterms:created>
  <dcterms:modified xsi:type="dcterms:W3CDTF">2026-10-13T18:20:24Z</dcterms:modified>
</cp:coreProperties>
</file>